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조사표를 넣으면 엑셀 DB가 되는 자동화 도구, 오토다타를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공감: 입력 병목. 조사 하루, 입력은 며칠 — 모든 부서가 겪는 장면입니다.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어려웠나: 양식 다양성, 파일 형식 혼재, 표 구조, 한국어 OCR 한계 — 4중 장벽.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해결책 한 장 요약: 3단계 흐름과 3가지 모드. 설치 없는 포터블이 핵심 실용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1: 양식 업로드 → 파란 추출 박스 자동 생성 → AI 명명 → 템플릿 저장. 실제 라이브 시연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2: 결과 엑셀 — 요약 DB와 양식별 시트 분류, 묶음 자동 인식(#1, #2).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기술 1: 유기적 추출. 좌표가 아니라 라벨 기준이라 양식 변형에 강건 — 좌우 비교로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기술 2: AI+규칙 하이브리드 3단 구조. AI 맹신이 아닌 검증 설계 — 심사위원 신뢰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기술 3: AI 보고서 초안 왕복. 사람-AI 협업 루프 + 깨질 수 없는 조립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형식별 3경로: 무손실 텍스트 / 내장 OCR(오프라인) / AI Vision. 과거 자료 소급 축적.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효과-시간: 발표 전 표본 10건 실측해 노란 기입란을 채울 것. 절대값+측정방법으로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효과-품질: 오타 제거, 이상치 경고(예: 349m 경고), 누적 DB와 AI 분석.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보안: 기본 100% 로컬, AI 선택제, 키 암호화 — 공공기관 필수 관문 통과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비용 0원: 무설치·서버 불필요·자동 점검·교육 30분. 직원평가단 실용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범용성: 8가지 활용처 — 평가단 각 부서가 자기 업무를 떠올리게 하는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가점 1: 입력 자동화 → 공공데이터 개방 주기 단축 → 국민·연구자·지자체 편익.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가점 2: 대국민 서식 자동화(민원 단축), 시민과학 확대(참여 장벽 완화) — 구체 시나리오 2건.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차별화 서사: 비개발자 직원이 AI 페어프로그래밍으로 직접 개발 — 대회 취지(AI 조직문화) 정면 부합.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 3단계: 완료된 실적용 → 확산 → 전 기관 정착. 확산 비용이 사실상 0임을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클로징: 4개 심사축 요약 + 라이브 시연 제안으로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932688"/>
            <a:ext cx="109728" cy="109728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822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AutoData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0" y="1325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spc="-10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조사표, </a:t>
            </a:r>
            <a:pPr algn="ctr" indent="0" marL="0">
              <a:buNone/>
            </a:pPr>
            <a:r>
              <a:rPr lang="en-US" sz="23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넣으면 엑셀이 됩니다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입력 없는 조사 데이터 DB화 · AI 자동 추출 플랫폼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40968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40968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종이·한글·PDF 조사표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267048" y="4178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78528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8528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추출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604608" y="417880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16088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6088" y="3977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DB · 보고서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20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9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조사보다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더 오래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걸립니다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하루 종일 조사하고 돌아오면, 사무실에서는 조사표를 한 칸씩 엑셀로 옮겨 적는 일이 기다립니다.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1965960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23317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" y="23180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1854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조사표 1건 = 여러 쪽, 항목 수백 개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25328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속에 글·숫자·좌표·체크박스가 뒤섞여 있습니다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3337560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" y="37033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" y="36896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5A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◷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35570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옮겨 적는 시간 = 조사만큼의 야근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건마다 수십 분씩, 연간 수백~수천 건이 수기로 입력됩니다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4709160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" y="50749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3816" y="50612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0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92861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옮겨 적다 생기는 오타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52760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실수가 그대로 데이터 품질 문제로 이어집니다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360000">
            <a:off x="8321040" y="2423160"/>
            <a:ext cx="2194560" cy="2834640"/>
          </a:xfrm>
          <a:prstGeom prst="rect">
            <a:avLst/>
          </a:prstGeom>
          <a:solidFill>
            <a:srgbClr val="EEF1F4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80000">
            <a:off x="8119872" y="2267712"/>
            <a:ext cx="2194560" cy="2834640"/>
          </a:xfrm>
          <a:prstGeom prst="rect">
            <a:avLst/>
          </a:prstGeom>
          <a:solidFill>
            <a:srgbClr val="F5F7F9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2103120"/>
            <a:ext cx="2194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조사표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606040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23960" y="2606040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2935224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2935224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264408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3960" y="3264408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593592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3960" y="3593592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3922776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23960" y="3922776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4251960"/>
            <a:ext cx="777240" cy="256032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4251960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46451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수백 장…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5394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쌓여 가는 조사표 — 전 부서가 겪는 공통 장면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자동화로는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풀리지 않던 문제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자동화가 안 됐던 데에는 구조적인 이유가 있습니다.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19659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1488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135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624328"/>
            <a:ext cx="498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양식이 제각각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916936"/>
            <a:ext cx="498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 종류가 여러 가지인 데다 개정될 때마다 줄·칸이 달라져, 하나에 맞춘 규칙이 금방 깨집니다.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96596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5888" y="21488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5888" y="21351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624328"/>
            <a:ext cx="498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한글·PDF·스캔 혼재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916936"/>
            <a:ext cx="498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hwp/hwpx, PDF, 복사기 스캔본, 손글씨까지 — 파일마다 읽는 방법이 완전히 다릅니다.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" y="3977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605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5528" y="4146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⊞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636008"/>
            <a:ext cx="498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속의 복잡한 구조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4928616"/>
            <a:ext cx="498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병합된 칸, 체크박스(√), 좌표(도·분·초), 굵은 글씨 구분 — 표를 이해해야 값을 꺼낼 수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3008" y="3977640"/>
            <a:ext cx="534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5888" y="4160520"/>
            <a:ext cx="384048" cy="384048"/>
          </a:xfrm>
          <a:prstGeom prst="ellipse">
            <a:avLst/>
          </a:prstGeom>
          <a:solidFill>
            <a:srgbClr val="FDEC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5888" y="4146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303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4636008"/>
            <a:ext cx="498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OCR의 한계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15888" y="4928616"/>
            <a:ext cx="498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문자인식은 한국어 표 서식에 약해, 어느 칸의 값인지 뒤섞인 결과가 나오기 일쑤입니다.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—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넣으면, 엑셀 DB가 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3381146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65506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조사표 파일 넣기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98424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hwp·hwpx·PDF·스캔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039514" y="176479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05274" y="1508760"/>
            <a:ext cx="3381146" cy="868680"/>
          </a:xfrm>
          <a:prstGeom prst="roundRect">
            <a:avLst>
              <a:gd name="adj" fmla="val 8421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5274" y="165506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AI가 읽고 검증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05274" y="198424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표·항목 자동 인식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32141" y="176479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97901" y="1508760"/>
            <a:ext cx="3381146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7901" y="165506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엑셀 DB·보고서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197901" y="1984248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요약표 + 시트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" y="2697480"/>
            <a:ext cx="347258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3410712"/>
            <a:ext cx="30702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디자이너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3758184"/>
            <a:ext cx="30702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같은 양식을 대량 처리 — 추출 칸을 지정해 템플릿으로 저장, 수백 파일을 한 번에.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9554" y="2697480"/>
            <a:ext cx="347258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0722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60722" y="3410712"/>
            <a:ext cx="30702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자동추출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60722" y="3758184"/>
            <a:ext cx="30702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보는 양식도 AI(Vision)가 페이지를 사람처럼 읽고 서식을 판별해 자동으로 표를 만듭니다.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6461" y="2697480"/>
            <a:ext cx="3472586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07629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07629" y="3410712"/>
            <a:ext cx="30702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07629" y="3758184"/>
            <a:ext cx="30702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Claude·ChatGPT·Gemini 중 선택, 연결 테스트까지 화면에서. AI 없이도 기본 기능은 동작.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" y="534924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필요 없는 포터블 프로그램 — USB 하나로 어느 PC에서든 더블클릭으로 실행됩니다.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양식을 올리면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칸이 자동으로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생깁니다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7830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947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표 칸마다 박스 자동 생성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295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필요 없는 것만 지우고 이름을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" y="3081528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AI가 항목 이름까지 명명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593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칸은 하천명, 이 칸은 보 길이” — 버튼 하나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4379976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" y="4544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템플릿으로 저장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양식 수백 개 파일에 재사용 · 양식 PDF도 함께 보관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773936"/>
            <a:ext cx="5367528" cy="2743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   템플릿 디자이너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2194560"/>
            <a:ext cx="4892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3042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 현장 조사표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2267712"/>
            <a:ext cx="1920240" cy="329184"/>
          </a:xfrm>
          <a:prstGeom prst="rect">
            <a:avLst/>
          </a:prstGeom>
          <a:solidFill>
            <a:srgbClr val="8B5CF6">
              <a:alpha val="12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2048256"/>
            <a:ext cx="548640" cy="201168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37960" y="2788920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8986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하천명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52360" y="2788920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7224" y="2843784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2788920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98280" y="28986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966960" y="2788920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21824" y="2843784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3355848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3465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위치(좌표)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52360" y="3355848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7224" y="3410712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3355848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98280" y="3465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구조물 규모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66960" y="3355848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21824" y="3410712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3922776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40325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점검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52360" y="3922776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07224" y="3977640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3922776"/>
            <a:ext cx="914400" cy="457200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98280" y="40325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966960" y="3922776"/>
            <a:ext cx="1417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21824" y="3977640"/>
            <a:ext cx="1298448" cy="347472"/>
          </a:xfrm>
          <a:prstGeom prst="rect">
            <a:avLst/>
          </a:prstGeom>
          <a:solidFill>
            <a:srgbClr val="3182F6">
              <a:alpha val="14000"/>
            </a:srgbClr>
          </a:solidFill>
          <a:ln w="19050">
            <a:solidFill>
              <a:srgbClr val="3182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64040" y="5422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모형 (실제 UI 동일 구성)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9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731959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31959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개 파일 →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하나로 엑셀 완성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12648" y="17830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19476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DB + 대상지별 시트 + 보고서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22951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처리로 필요한 산출물이 모두 생성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" y="3081528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파일에 조사표 여러 묶음? 자동 인식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593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묶음마다 한 행씩 — 27쪽짜리 파일도 3건으로 정확히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" y="4379976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4544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제목(양식)별 시트 자동 분류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큰 글씨를 제목으로 인식해 같은 양식끼리 묶음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773936"/>
            <a:ext cx="5367528" cy="2743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792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● ●   결과 엑셀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2240280"/>
            <a:ext cx="1508760" cy="457200"/>
          </a:xfrm>
          <a:prstGeom prst="rect">
            <a:avLst/>
          </a:prstGeom>
          <a:solidFill>
            <a:srgbClr val="191F28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23500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09560" y="2240280"/>
            <a:ext cx="1234440" cy="457200"/>
          </a:xfrm>
          <a:prstGeom prst="rect">
            <a:avLst/>
          </a:prstGeom>
          <a:solidFill>
            <a:srgbClr val="191F28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82712" y="235000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하천명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0" y="2240280"/>
            <a:ext cx="1097280" cy="457200"/>
          </a:xfrm>
          <a:prstGeom prst="rect">
            <a:avLst/>
          </a:prstGeom>
          <a:solidFill>
            <a:srgbClr val="191F28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7152" y="235000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규모(m)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41280" y="2240280"/>
            <a:ext cx="1005840" cy="457200"/>
          </a:xfrm>
          <a:prstGeom prst="rect">
            <a:avLst/>
          </a:prstGeom>
          <a:solidFill>
            <a:srgbClr val="191F28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14432" y="23500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715768"/>
            <a:ext cx="1508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73952" y="28254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조사표A #1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09560" y="2715768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82712" y="282549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0" y="2715768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17152" y="2825496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41280" y="2715768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14432" y="28254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3191256"/>
            <a:ext cx="1508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330098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조사표A #2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09560" y="3191256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82712" y="3300984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0" y="3191256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17152" y="3300984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41280" y="3191256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314432" y="330098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3666744"/>
            <a:ext cx="1508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73952" y="377647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조사표B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09560" y="3666744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982712" y="3776472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0" y="3666744"/>
            <a:ext cx="10972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17152" y="37764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241280" y="3666744"/>
            <a:ext cx="1005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314432" y="377647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0" y="4416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시트: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03720" y="4370832"/>
            <a:ext cx="92354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4915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03720" y="441655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요약(DB)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00416" y="4370832"/>
            <a:ext cx="1024128" cy="310896"/>
          </a:xfrm>
          <a:prstGeom prst="roundRect">
            <a:avLst>
              <a:gd name="adj" fmla="val 14706"/>
            </a:avLst>
          </a:prstGeom>
          <a:solidFill>
            <a:srgbClr val="EEF1F4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900416" y="44165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구조물 조사표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997696" y="4370832"/>
            <a:ext cx="923544" cy="310896"/>
          </a:xfrm>
          <a:prstGeom prst="roundRect">
            <a:avLst>
              <a:gd name="adj" fmla="val 14706"/>
            </a:avLst>
          </a:prstGeom>
          <a:solidFill>
            <a:srgbClr val="EEF1F4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97696" y="4416552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어도 조사표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994392" y="4370832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EEF1F4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994392" y="44165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대상지별…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6400800" y="4828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제목별 시트 자동 분류 ↑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1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9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731959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31959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양식이 변해도 정확한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‘유기적 추출’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외우지 않습니다. 라벨(항목 이름)을 찾아 그 옆 칸을 읽기 때문에, 줄이 추가되거나 표가 밀려도 값이 어긋나지 않습니다.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" y="1965960"/>
            <a:ext cx="53003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875">
            <a:solidFill>
              <a:srgbClr val="F5C6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148840"/>
            <a:ext cx="484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 기존 좌표 방식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32888"/>
            <a:ext cx="484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양식에 줄 1개 추가됨 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" y="2834640"/>
            <a:ext cx="1188720" cy="420624"/>
          </a:xfrm>
          <a:prstGeom prst="rect">
            <a:avLst/>
          </a:prstGeom>
          <a:solidFill>
            <a:srgbClr val="FFF4D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항목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29968" y="28346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2140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1248" y="3291840"/>
            <a:ext cx="1188720" cy="420624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하천명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29968" y="32918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21408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3749040"/>
            <a:ext cx="1188720" cy="420624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29968" y="37490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21408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93976" y="2862072"/>
            <a:ext cx="1463040" cy="365760"/>
          </a:xfrm>
          <a:prstGeom prst="rect">
            <a:avLst/>
          </a:prstGeom>
          <a:ln w="19050">
            <a:solidFill>
              <a:srgbClr val="D6303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41248" y="4389120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좌표가 밀려 엉뚱한 값을 집음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1965960"/>
            <a:ext cx="53003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5875">
            <a:solidFill>
              <a:srgbClr val="B6EB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2148840"/>
            <a:ext cx="484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오토다타 유기적 추출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507328" y="2532888"/>
            <a:ext cx="484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변형 양식 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07328" y="2834640"/>
            <a:ext cx="1188720" cy="420624"/>
          </a:xfrm>
          <a:prstGeom prst="rect">
            <a:avLst/>
          </a:prstGeom>
          <a:solidFill>
            <a:srgbClr val="FFF4D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048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항목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96048" y="28346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8748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07328" y="3291840"/>
            <a:ext cx="1188720" cy="420624"/>
          </a:xfrm>
          <a:prstGeom prst="rect">
            <a:avLst/>
          </a:prstGeom>
          <a:solidFill>
            <a:srgbClr val="E7F9F0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048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하천명 ⌖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96048" y="3291840"/>
            <a:ext cx="2377440" cy="420624"/>
          </a:xfrm>
          <a:prstGeom prst="rect">
            <a:avLst/>
          </a:prstGeom>
          <a:solidFill>
            <a:srgbClr val="FFFFFF"/>
          </a:solidFill>
          <a:ln w="25400">
            <a:solidFill>
              <a:srgbClr val="0491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87488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07328" y="3749040"/>
            <a:ext cx="1188720" cy="420624"/>
          </a:xfrm>
          <a:prstGeom prst="rect">
            <a:avLst/>
          </a:prstGeom>
          <a:solidFill>
            <a:srgbClr val="F2F4F6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0480" y="3840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96048" y="374904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87488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07328" y="4389120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라벨을 먼저 찾고 → 그 옆 칸을 읽음 = 항상 정확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12648" y="562356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양식이 개정돼도 템플릿 재작업이 필요 없습니다 — 유지관리 비용이 구조적으로 낮습니다.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2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읽고,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검증하고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사람은 확인만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맹신하지 않습니다. 3단 구조로 믿을 수 있는 데이터를 만듭니다.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3289706" cy="2743200"/>
          </a:xfrm>
          <a:prstGeom prst="roundRect">
            <a:avLst>
              <a:gd name="adj" fmla="val 2667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1945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670048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AI(Vision)가 읽기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962656"/>
            <a:ext cx="29239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페이지를 사람처럼 통째로 읽어 서식을 판별하고 항목을 추출 — 스캔·손글씨도 처리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12082" y="32004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50994" y="2011680"/>
            <a:ext cx="3289706" cy="2743200"/>
          </a:xfrm>
          <a:prstGeom prst="roundRect">
            <a:avLst>
              <a:gd name="adj" fmla="val 2667"/>
            </a:avLst>
          </a:prstGeom>
          <a:solidFill>
            <a:srgbClr val="FFFBEF"/>
          </a:solidFill>
          <a:ln w="12700">
            <a:solidFill>
              <a:srgbClr val="F5DE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3874" y="2194560"/>
            <a:ext cx="384048" cy="384048"/>
          </a:xfrm>
          <a:prstGeom prst="ellipse">
            <a:avLst/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33874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6F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33874" y="2670048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규칙 엔진이 검증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33874" y="2962656"/>
            <a:ext cx="29239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기반 이상치 자동 경고(오추출 의심 값 표시) · 형식·범위 점검 · 신뢰도 낮은 값에 검수 플래그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50429" y="32004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89341" y="2011680"/>
            <a:ext cx="3289706" cy="2743200"/>
          </a:xfrm>
          <a:prstGeom prst="roundRect">
            <a:avLst>
              <a:gd name="adj" fmla="val 2667"/>
            </a:avLst>
          </a:prstGeom>
          <a:solidFill>
            <a:srgbClr val="F4FCF8"/>
          </a:solidFill>
          <a:ln w="12700">
            <a:solidFill>
              <a:srgbClr val="B6EB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72221" y="2194560"/>
            <a:ext cx="384048" cy="384048"/>
          </a:xfrm>
          <a:prstGeom prst="ellipse">
            <a:avLst/>
          </a:prstGeom>
          <a:solidFill>
            <a:srgbClr val="E7F9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72221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91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72221" y="2670048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사람은 확인만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72221" y="2962656"/>
            <a:ext cx="292394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플래그된 값만 골라 검토 — 전수 검토가 아닌 표적 검수로 시간을 아끼면서 품질 확보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516636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전문가 관점에서도 안전한 구조 — AI 출력이 그대로 확정되지 않고 반드시 검증층을 통과합니다.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3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양식도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초안부터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항목을 보고 AI가 보고서 양식(xlsx) 초안을 설계 — 편집해서 다시 올리면 데이터가 자동으로 채워집니다.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AI 초안 설계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비교표 + 대상지별 1장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합계·평균 수식 포함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54096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1256" y="23774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📥 다운로드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91256" y="27889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xlsx 파일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38344" y="210312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엑셀에서 편집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7889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부서 양식으로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자유롭게 수정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14032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51192" y="23774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재업로드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27889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프로그램에 다시 올림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87384" y="28803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98280" y="210312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4FCF8"/>
          </a:solidFill>
          <a:ln w="12700">
            <a:solidFill>
              <a:srgbClr val="B6EB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2377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자동 채움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{항목명} 자리마다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값이 든 완성본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" y="4572000"/>
            <a:ext cx="10966399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754880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설계: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'설계도(JSON)'만 제안하고, 실제 엑셀 파일 조립은 프로그램이 결정적으로 수행 — 깨진 파일이 나올 수 없는 구조이며, AI가 실수해도 자동 보정됩니다.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4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과거의 스캔 자료까지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DB로 살립니다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종류마다 가장 잘 읽는 방법을 자동으로 골라 씁니다.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347258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1945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67004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타이핑 문서 (hwp·hwpx·PDF)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962656"/>
            <a:ext cx="31068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그대로 추출 — 변환 오차 없는 무손실 데이터.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9554" y="2011680"/>
            <a:ext cx="347258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2434" y="21945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42434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42434" y="267004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PDF → 내장 OCR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2434" y="2962656"/>
            <a:ext cx="31068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인식 모델을 프로그램에 내장 — 인터넷 없이 이 컴퓨터 안에서 글자를 인식.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6461" y="2011680"/>
            <a:ext cx="347258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9341" y="21945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89341" y="21808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89341" y="267004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손글씨·복잡 서식 → AI Vision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89341" y="2962656"/>
            <a:ext cx="31068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이미지를 통째로 읽어 손글씨·비정형 기록까지 표로 변환.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502920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서랍 속에 잠자던 과거 조사 자료(스캔본)도 같은 파이프라인으로 축적 — 데이터 자산이 소급해서 늘어납니다.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9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시간으로 증명합니다  </a:t>
            </a:r>
            <a:pPr indent="0" marL="0">
              <a:buNone/>
            </a:pPr>
            <a:r>
              <a:rPr lang="en-US" sz="2700" b="1" spc="-5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(발표 전 실측값 기입)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8288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93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입력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44568" y="1975104"/>
            <a:ext cx="2148840" cy="329184"/>
          </a:xfrm>
          <a:prstGeom prst="roundRect">
            <a:avLst>
              <a:gd name="adj" fmla="val 16667"/>
            </a:avLst>
          </a:prstGeom>
          <a:solidFill>
            <a:srgbClr val="FFF9E8"/>
          </a:solidFill>
          <a:ln w="12700">
            <a:solidFill>
              <a:srgbClr val="E2B93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44568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기입: 건당 __분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487168"/>
            <a:ext cx="5852160" cy="365760"/>
          </a:xfrm>
          <a:prstGeom prst="rect">
            <a:avLst/>
          </a:prstGeom>
          <a:solidFill>
            <a:srgbClr val="F04452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329184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44568" y="3438144"/>
            <a:ext cx="2148840" cy="329184"/>
          </a:xfrm>
          <a:prstGeom prst="roundRect">
            <a:avLst>
              <a:gd name="adj" fmla="val 16667"/>
            </a:avLst>
          </a:prstGeom>
          <a:solidFill>
            <a:srgbClr val="FFF9E8"/>
          </a:solidFill>
          <a:ln w="12700">
            <a:solidFill>
              <a:srgbClr val="E2B93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544568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기입: 건당 __초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950208"/>
            <a:ext cx="5852160" cy="365760"/>
          </a:xfrm>
          <a:prstGeom prst="rect">
            <a:avLst/>
          </a:prstGeom>
          <a:solidFill>
            <a:srgbClr val="EA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950208"/>
            <a:ext cx="409651" cy="365760"/>
          </a:xfrm>
          <a:prstGeom prst="rect">
            <a:avLst/>
          </a:prstGeom>
          <a:solidFill>
            <a:srgbClr val="31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" y="4709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길이는 실측값 비율로 수정 · 측정 방법 명시: 동일 조사표 10건 표본, 수기 입력과 자동 처리를 같은 조건에서 실측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87768" y="1828800"/>
            <a:ext cx="4291279" cy="2743200"/>
          </a:xfrm>
          <a:prstGeom prst="roundRect">
            <a:avLst>
              <a:gd name="adj" fmla="val 2667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2029968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환산 (기관 실적 기준으로 기입)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87768" y="2423160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__건 × 건당 절감 __분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2880360"/>
            <a:ext cx="4291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3246120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__인시 절감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7287768" y="3931920"/>
            <a:ext cx="4291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부풀린 백분율 대신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절대값만 제시합니다.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9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빠르기만 한 게 아니라,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정확합니다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691640"/>
            <a:ext cx="347258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874520"/>
            <a:ext cx="384048" cy="384048"/>
          </a:xfrm>
          <a:prstGeom prst="ellipse">
            <a:avLst/>
          </a:prstGeom>
          <a:solidFill>
            <a:srgbClr val="E7F9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91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35000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옮겨 적기 오타 원천 제거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642616"/>
            <a:ext cx="310682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글자를 그대로 추출하므로 전산화 과정의 오타가 사라집니다.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59554" y="1691640"/>
            <a:ext cx="347258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2434" y="1874520"/>
            <a:ext cx="384048" cy="384048"/>
          </a:xfrm>
          <a:prstGeom prst="ellipse">
            <a:avLst/>
          </a:prstGeom>
          <a:solidFill>
            <a:srgbClr val="FFF4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2434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6F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2434" y="235000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자동 경고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42434" y="2642616"/>
            <a:ext cx="310682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항목의 값 분포를 통계로 비교해, 튀는 값(오추출·오기재 의심)을 자동 표시합니다.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42434" y="3931920"/>
            <a:ext cx="3106826" cy="822960"/>
          </a:xfrm>
          <a:prstGeom prst="roundRect">
            <a:avLst>
              <a:gd name="adj" fmla="val 6667"/>
            </a:avLst>
          </a:prstGeom>
          <a:solidFill>
            <a:srgbClr val="FFFBEF"/>
          </a:solidFill>
          <a:ln w="12700">
            <a:solidFill>
              <a:srgbClr val="F5DE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9594" y="4050792"/>
            <a:ext cx="283250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규모 349m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조사표 평균 25m의 14배, 확인 필요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6461" y="1691640"/>
            <a:ext cx="3472586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9341" y="18745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9341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9341" y="2350008"/>
            <a:ext cx="3106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쌓일수록 강해지는 DB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9341" y="2642616"/>
            <a:ext cx="310682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회차별 결과가 누적되어 추세 비교·연간 분석이 가능 — AI가 종합 분석 리포트까지 작성합니다.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밖으로 나가지 않습니다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15568" y="2286000"/>
            <a:ext cx="1920240" cy="1920240"/>
          </a:xfrm>
          <a:prstGeom prst="ellipse">
            <a:avLst/>
          </a:prstGeom>
          <a:solidFill>
            <a:srgbClr val="F0F6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15568" y="2395728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처리 원칙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6240" y="1783080"/>
            <a:ext cx="7372807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947672"/>
            <a:ext cx="6915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기능은 100% 로컬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286000"/>
            <a:ext cx="6915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추출·엑셀 생성·OCR 모두 이 컴퓨터 안에서 — 조사자 정보·좌표 등 민감 정보가 인터넷으로 전송되지 않습니다.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7372807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3273552"/>
            <a:ext cx="6915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기능은 선택제 + 명확한 고지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611880"/>
            <a:ext cx="6915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켤 때만, 무엇이 전송되는지 화면에 명시하고 동작합니다. 끄면 전송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4434840"/>
            <a:ext cx="7372807" cy="1143000"/>
          </a:xfrm>
          <a:prstGeom prst="roundRect">
            <a:avLst>
              <a:gd name="adj" fmla="val 6400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4599432"/>
            <a:ext cx="6915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암호화 저장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4937760"/>
            <a:ext cx="69156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계정 단위 암호화(DPAPI) — 파일이 유출돼도 다른 PC·다른 사용자는 복호화 불가.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580644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데이터 처리 원칙에 부합하도록 처음부터 설계했습니다.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비용·추가 장비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 바로 쓸 수 있습니다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7830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659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1952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41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73405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풀고 더블클릭 — 파이썬·라이브러리 전부 내장(약 106MB)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64608" y="17830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19659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47488" y="1952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2441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서버·클라우드 불필요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73405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PC 1대면 충분, 유지비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" y="37490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39319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3918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44074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자동 점검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70001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켜질 때 이 PC에서 되는 것·안 되는 것을 스스로 확인해 안내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64608" y="37490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39319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47488" y="39182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47488" y="44074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부담 최소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4700016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 1장 + 30분 시연이면 부서 배포 가능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0" y="1920240"/>
            <a:ext cx="2423160" cy="29260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71432" y="1947672"/>
            <a:ext cx="2368296" cy="310896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81160" y="1984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AutoData_포터블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4688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AutoData.exe  ← 더블클릭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9260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사용법.txt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3832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ai_config.txt  (AI 설정·선택)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84048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  (결과 엑셀 저장)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983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 하나로 어느 PC든 배포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표가 있는 문서는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DB가 됩니다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조사표에서 출발했지만, 원리는 하나 — 기관의 모든 표 기반 서식에 그대로 적용됩니다.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3113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연구·조사 야장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1635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기록 전반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2828" y="201168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7420" y="223113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점검표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87420" y="281635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점검 기록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201168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7600" y="223113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안전점검 체크리스트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97600" y="281635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항목·체크 자동 집계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43187" y="201168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7779" y="223113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교육·행사 신청서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07779" y="281635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 자동 취합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" y="365760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7705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6227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자동 표화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2828" y="365760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87420" y="387705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민원·접수 서식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87420" y="446227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내용 DB화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3008" y="365760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97600" y="387705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회의·심사 기록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446227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결과표 정리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43187" y="3657600"/>
            <a:ext cx="253586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07779" y="3877056"/>
            <a:ext cx="220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각종 관리 대장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207779" y="4462272"/>
            <a:ext cx="2206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대장 전산화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" y="539496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템플릿만 만들면 부서마다 자기 서식에 즉시 적용 — 처음 보는 양식은 AI 자동추출로.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서비스 개선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13087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13087" y="384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서비스 개선 · 가점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데이터가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빨리 국민에게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갑니다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데이터의 병목은 '입력'이었습니다. 입력이 자동화되면 공공데이터 개방과 정보 공개의 주기가 짧아집니다.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2011680"/>
            <a:ext cx="10966399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F5C6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47088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47088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조사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606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49040" y="25146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DECEE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입력 (수주~수개월)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75704" y="2606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114032" y="25146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14032" y="2514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606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50224" y="25146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50224" y="2514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공개·개방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3611880"/>
            <a:ext cx="10966399" cy="1371600"/>
          </a:xfrm>
          <a:prstGeom prst="roundRect">
            <a:avLst>
              <a:gd name="adj" fmla="val 5333"/>
            </a:avLst>
          </a:prstGeom>
          <a:solidFill>
            <a:srgbClr val="F0F6FF"/>
          </a:solidFill>
          <a:ln w="15875">
            <a:solidFill>
              <a:srgbClr val="BCD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도입 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847088" y="4114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47088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조사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10712" y="4206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49040" y="41148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4904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DB화 + 자동 검증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75704" y="42062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14032" y="41148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4FCF8"/>
          </a:solidFill>
          <a:ln w="12700">
            <a:solidFill>
              <a:srgbClr val="B6EB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14032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신속 공개·개방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" y="534924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국민·연구자·지자체가 더 최신의 데이터로 환경영향 검토, 정책 수립, 연구에 활용 — 데이터 개방 품질과 속도가 함께 올라갑니다.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서비스 개선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13087" y="38404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13087" y="3840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서비스 개선 · 가점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국민이 내는 서류,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국민이 모으는 데이터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53003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202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1906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395728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대국민 서식 자동화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688336"/>
            <a:ext cx="493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국민이 제출하는 신청서·참가 신청·설문(수기·스캔 포함)을 자동 DB화 → 민원 처리 대기시간 단축.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창구의 반복 입력이 사라지면, 그 시간은 국민 응대의 질로 돌아갑니다.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737360"/>
            <a:ext cx="53003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1608" y="192024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61608" y="1906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4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395728"/>
            <a:ext cx="493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시민 참여형 조사 확대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688336"/>
            <a:ext cx="493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 모니터링단의 종이 야장·사진 기록을 표준 데이터로 자동 수집 → 국민 참여형 조사(시민과학)의 진입 장벽을 낮춤.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“기록만 해 주세요, 정리는 AI가” — 참여가 늘수록 국가 생태 데이터가 풍부해집니다.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525780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접근성·신속성·편의성 — 공공서비스 만족도를 끌어올리는 구체적이고 즉시 실행 가능한 개선 시나리오입니다.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이야기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6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도구는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AI와 함께 직접</a:t>
            </a:r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만들었습니다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371600"/>
            <a:ext cx="109663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아닌 현업 담당자가, AI와 대화하며 기획부터 배포까지 — 예산 0원, 외주 0건.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" y="1965960"/>
            <a:ext cx="23987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2167128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4688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불편 정의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2862072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“조사표 수기 입력이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오래 걸린다”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084500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68548" y="1965960"/>
            <a:ext cx="23987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68548" y="2167128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68548" y="24688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페어 개발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78276" y="2862072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만에 첫 동작 버전 —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기능을 쌓아 감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0400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4448" y="1965960"/>
            <a:ext cx="239870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4448" y="2167128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24448" y="24688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검증·개선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34176" y="2862072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조사표로 시험,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 100여 건 구축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796299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80347" y="1965960"/>
            <a:ext cx="2398700" cy="1965960"/>
          </a:xfrm>
          <a:prstGeom prst="roundRect">
            <a:avLst>
              <a:gd name="adj" fmla="val 3721"/>
            </a:avLst>
          </a:prstGeom>
          <a:solidFill>
            <a:srgbClr val="F0F6FF"/>
          </a:solidFill>
          <a:ln w="12700">
            <a:solidFill>
              <a:srgbClr val="BCD7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0347" y="2167128"/>
            <a:ext cx="239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180347" y="24688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포터블 배포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90075" y="2862072"/>
            <a:ext cx="21792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 전 부서가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수 있는 완성품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" y="4343400"/>
            <a:ext cx="10966399" cy="1234440"/>
          </a:xfrm>
          <a:prstGeom prst="roundRect">
            <a:avLst>
              <a:gd name="adj" fmla="val 592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968" y="452628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“AI를 </a:t>
            </a:r>
            <a:pPr indent="0" marL="0">
              <a:buNone/>
            </a:pPr>
            <a:r>
              <a:rPr lang="en-US" sz="1450" b="1" dirty="0">
                <a:solidFill>
                  <a:srgbClr val="9DB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쓰는 것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넘어, AI로 </a:t>
            </a:r>
            <a:pPr indent="0" marL="0">
              <a:buNone/>
            </a:pPr>
            <a:r>
              <a:rPr lang="en-US" sz="1450" b="1" dirty="0">
                <a:solidFill>
                  <a:srgbClr val="9DB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도구를 만드는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조직으로”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86968" y="4956048"/>
            <a:ext cx="10417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개발 경험 자체가 복제 가능한 모델입니다 — 각 부서의 불편을, 각 부서가 AI와 함께 해결합니다.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02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계획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710367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10367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731959" y="384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31959" y="384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786384"/>
            <a:ext cx="109663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출품작이 아닌, </a:t>
            </a:r>
            <a:pPr indent="0" marL="0">
              <a:buNone/>
            </a:pPr>
            <a:r>
              <a:rPr lang="en-US" sz="2700" b="1" spc="-5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로드맵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3350666" cy="2926080"/>
          </a:xfrm>
          <a:prstGeom prst="roundRect">
            <a:avLst>
              <a:gd name="adj" fmla="val 2500"/>
            </a:avLst>
          </a:prstGeom>
          <a:solidFill>
            <a:srgbClr val="F4FCF8"/>
          </a:solidFill>
          <a:ln w="15875">
            <a:solidFill>
              <a:srgbClr val="B6EB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057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완료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377440"/>
            <a:ext cx="28934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부서 실적용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834640"/>
            <a:ext cx="289346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조사표로 운영 중 — 템플릿·AI추출·보고서까지 전체 흐름 검증 완료. 자동 테스트 100여 건으로 품질 관리.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36466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20514" y="1828800"/>
            <a:ext cx="335066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9114" y="2057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확산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49114" y="2377440"/>
            <a:ext cx="28934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서식으로 확대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49114" y="2834640"/>
            <a:ext cx="289346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부서의 조사·점검 서식에 적용, 표준 항목 사전(항목명·단위·형식) 정리로 데이터 일관성 확보.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44333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A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8381" y="1828800"/>
            <a:ext cx="335066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6981" y="205740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정착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56981" y="2377440"/>
            <a:ext cx="28934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기관 배포·연계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56981" y="2834640"/>
            <a:ext cx="289346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포터블 배포(USB·공유폴더)로 전 부서 보급, 기관 데이터 시스템과 표준 스키마로 연계.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5166360"/>
            <a:ext cx="10966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비용: 프로그램 복사 + 사용법 1장 + 30분 시연. 서버 구축·라이선스 구매가 없어 확산의 장벽 자체가 없습니다.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658368"/>
            <a:ext cx="91440" cy="91440"/>
          </a:xfrm>
          <a:prstGeom prst="ellipse">
            <a:avLst/>
          </a:prstGeom>
          <a:solidFill>
            <a:srgbClr val="3182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65496" y="566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AutoData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0" y="10515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조사는 현장에서,</a:t>
            </a:r>
            <a:endParaRPr lang="en-US" sz="38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AI가.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12648" y="3063240"/>
            <a:ext cx="25358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3246120"/>
            <a:ext cx="217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56616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무설치 완성품,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바로 사용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2828" y="3063240"/>
            <a:ext cx="25358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5708" y="3246120"/>
            <a:ext cx="217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49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효과성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05708" y="356616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시간 절감 실측,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 원천 제거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3008" y="3063240"/>
            <a:ext cx="25358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3246120"/>
            <a:ext cx="217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356616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있는 모든 서식,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부서로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3187" y="3063240"/>
            <a:ext cx="253586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6067" y="3246120"/>
            <a:ext cx="2170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6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서비스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226067" y="3566160"/>
            <a:ext cx="2170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빠른 데이터 개방,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민원·참여 확대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92728" y="4983480"/>
            <a:ext cx="4206240" cy="621792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92728" y="49834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자리에서 시연 가능합니다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" y="6419088"/>
            <a:ext cx="10966399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6483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오토다타 AutoData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481767" y="6483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2026-08-29T01:41:04Z</dcterms:created>
  <dcterms:modified xsi:type="dcterms:W3CDTF">2026-08-29T01:41:04Z</dcterms:modified>
</cp:coreProperties>
</file>